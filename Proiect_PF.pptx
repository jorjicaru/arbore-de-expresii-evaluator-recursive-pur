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1" y="600478"/>
            <a:ext cx="8887968" cy="900131"/>
          </a:xfrm>
        </p:spPr>
        <p:txBody>
          <a:bodyPr anchor="t">
            <a:noAutofit/>
          </a:bodyPr>
          <a:lstStyle/>
          <a:p>
            <a:pPr algn="l"/>
            <a:r>
              <a:rPr lang="en-US" sz="3800" dirty="0">
                <a:solidFill>
                  <a:schemeClr val="bg1"/>
                </a:solidFill>
              </a:rPr>
              <a:t>Arbore de </a:t>
            </a:r>
            <a:r>
              <a:rPr lang="en-US" sz="3800" dirty="0" err="1">
                <a:solidFill>
                  <a:schemeClr val="bg1"/>
                </a:solidFill>
              </a:rPr>
              <a:t>expresii</a:t>
            </a:r>
            <a:r>
              <a:rPr lang="en-US" sz="3800" dirty="0">
                <a:solidFill>
                  <a:schemeClr val="bg1"/>
                </a:solidFill>
              </a:rPr>
              <a:t> + evaluator recursive </a:t>
            </a:r>
            <a:r>
              <a:rPr lang="en-US" sz="3800" dirty="0" err="1">
                <a:solidFill>
                  <a:schemeClr val="bg1"/>
                </a:solidFill>
              </a:rPr>
              <a:t>pur</a:t>
            </a:r>
            <a:endParaRPr lang="en-US" sz="3800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100"/>
              <a:t>Nume student: Deliman George – Fabian</a:t>
            </a:r>
          </a:p>
          <a:p>
            <a:pPr marL="0" indent="0">
              <a:buNone/>
            </a:pPr>
            <a:r>
              <a:rPr lang="it-IT" sz="2100"/>
              <a:t>Materie: Programare Functionala</a:t>
            </a:r>
          </a:p>
          <a:p>
            <a:pPr marL="0" indent="0">
              <a:buNone/>
            </a:pPr>
            <a:r>
              <a:rPr lang="it-IT" sz="2100"/>
              <a:t>An: II, Specializare: Calculatoare</a:t>
            </a:r>
          </a:p>
          <a:p>
            <a:pPr marL="0" indent="0">
              <a:buNone/>
            </a:pPr>
            <a:r>
              <a:rPr lang="it-IT" sz="2100"/>
              <a:t>Grupa: 1721A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Introducere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US" sz="2100" dirty="0" err="1"/>
              <a:t>Obiectivul</a:t>
            </a:r>
            <a:r>
              <a:rPr lang="en-US" sz="2100" dirty="0"/>
              <a:t> </a:t>
            </a:r>
            <a:r>
              <a:rPr lang="en-US" sz="2100" dirty="0" err="1"/>
              <a:t>proiectului</a:t>
            </a:r>
            <a:r>
              <a:rPr lang="en-US" sz="2100" dirty="0"/>
              <a:t>:</a:t>
            </a:r>
          </a:p>
          <a:p>
            <a:pPr lvl="1"/>
            <a:r>
              <a:rPr lang="en-US" sz="2100" dirty="0" err="1"/>
              <a:t>Crearea</a:t>
            </a:r>
            <a:r>
              <a:rPr lang="en-US" sz="2100" dirty="0"/>
              <a:t> </a:t>
            </a:r>
            <a:r>
              <a:rPr lang="en-US" sz="2100" dirty="0" err="1"/>
              <a:t>unei</a:t>
            </a:r>
            <a:r>
              <a:rPr lang="en-US" sz="2100" dirty="0"/>
              <a:t> </a:t>
            </a:r>
            <a:r>
              <a:rPr lang="en-US" sz="2100" dirty="0" err="1"/>
              <a:t>aplicatii</a:t>
            </a:r>
            <a:r>
              <a:rPr lang="en-US" sz="2100" dirty="0"/>
              <a:t> capable </a:t>
            </a:r>
            <a:r>
              <a:rPr lang="en-US" sz="2100" dirty="0" err="1"/>
              <a:t>sa</a:t>
            </a:r>
            <a:r>
              <a:rPr lang="en-US" sz="2100" dirty="0"/>
              <a:t> </a:t>
            </a:r>
            <a:r>
              <a:rPr lang="en-US" sz="2100" dirty="0" err="1"/>
              <a:t>reprezinte</a:t>
            </a:r>
            <a:r>
              <a:rPr lang="en-US" sz="2100" dirty="0"/>
              <a:t> </a:t>
            </a:r>
            <a:r>
              <a:rPr lang="en-US" sz="2100" dirty="0" err="1"/>
              <a:t>si</a:t>
            </a:r>
            <a:r>
              <a:rPr lang="en-US" sz="2100" dirty="0"/>
              <a:t> </a:t>
            </a:r>
            <a:r>
              <a:rPr lang="en-US" sz="2100" dirty="0" err="1"/>
              <a:t>sa</a:t>
            </a:r>
            <a:r>
              <a:rPr lang="en-US" sz="2100" dirty="0"/>
              <a:t> </a:t>
            </a:r>
            <a:r>
              <a:rPr lang="en-US" sz="2100" dirty="0" err="1"/>
              <a:t>evalueze</a:t>
            </a:r>
            <a:r>
              <a:rPr lang="en-US" sz="2100" dirty="0"/>
              <a:t> </a:t>
            </a:r>
            <a:r>
              <a:rPr lang="en-US" sz="2100" dirty="0" err="1"/>
              <a:t>expresii</a:t>
            </a:r>
            <a:r>
              <a:rPr lang="en-US" sz="2100" dirty="0"/>
              <a:t> </a:t>
            </a:r>
            <a:r>
              <a:rPr lang="en-US" sz="2100" dirty="0" err="1"/>
              <a:t>matematice</a:t>
            </a:r>
            <a:r>
              <a:rPr lang="en-US" sz="2100" dirty="0"/>
              <a:t> </a:t>
            </a:r>
            <a:r>
              <a:rPr lang="en-US" sz="2100" dirty="0" err="1"/>
              <a:t>complexe</a:t>
            </a:r>
            <a:r>
              <a:rPr lang="en-US" sz="2100" dirty="0"/>
              <a:t>, </a:t>
            </a:r>
            <a:r>
              <a:rPr lang="en-US" sz="2100" dirty="0" err="1"/>
              <a:t>fara</a:t>
            </a:r>
            <a:r>
              <a:rPr lang="en-US" sz="2100" dirty="0"/>
              <a:t> a </a:t>
            </a:r>
            <a:r>
              <a:rPr lang="en-US" sz="2100" dirty="0" err="1"/>
              <a:t>folosi</a:t>
            </a:r>
            <a:r>
              <a:rPr lang="en-US" sz="2100" dirty="0"/>
              <a:t> </a:t>
            </a:r>
            <a:r>
              <a:rPr lang="en-US" sz="2100" dirty="0" err="1"/>
              <a:t>structuri</a:t>
            </a:r>
            <a:r>
              <a:rPr lang="en-US" sz="2100" dirty="0"/>
              <a:t> repetitive </a:t>
            </a:r>
            <a:r>
              <a:rPr lang="en-US" sz="2100" dirty="0" err="1"/>
              <a:t>clasice</a:t>
            </a:r>
            <a:endParaRPr lang="en-US" sz="2100" dirty="0"/>
          </a:p>
          <a:p>
            <a:r>
              <a:rPr lang="en-US" sz="2100" dirty="0" err="1"/>
              <a:t>Tehnologii</a:t>
            </a:r>
            <a:r>
              <a:rPr lang="en-US" sz="2100" dirty="0"/>
              <a:t> </a:t>
            </a:r>
            <a:r>
              <a:rPr lang="en-US" sz="2100" dirty="0" err="1"/>
              <a:t>utilizate</a:t>
            </a:r>
            <a:r>
              <a:rPr lang="en-US" sz="2100" dirty="0"/>
              <a:t>:</a:t>
            </a:r>
          </a:p>
          <a:p>
            <a:pPr lvl="1"/>
            <a:r>
              <a:rPr lang="en-US" sz="2100" dirty="0" err="1"/>
              <a:t>Biblioteci</a:t>
            </a:r>
            <a:r>
              <a:rPr lang="en-US" sz="2100" dirty="0"/>
              <a:t>: </a:t>
            </a:r>
          </a:p>
          <a:p>
            <a:pPr lvl="2"/>
            <a:r>
              <a:rPr lang="en-US" sz="2100" dirty="0" err="1"/>
              <a:t>dataclasses</a:t>
            </a:r>
            <a:r>
              <a:rPr lang="en-US" sz="2100" dirty="0"/>
              <a:t> (</a:t>
            </a:r>
            <a:r>
              <a:rPr lang="en-US" sz="2100" dirty="0" err="1"/>
              <a:t>structuri</a:t>
            </a:r>
            <a:r>
              <a:rPr lang="en-US" sz="2100" dirty="0"/>
              <a:t> de date)</a:t>
            </a:r>
          </a:p>
          <a:p>
            <a:pPr lvl="2"/>
            <a:r>
              <a:rPr lang="en-US" sz="2100" dirty="0"/>
              <a:t>Hypothesis (</a:t>
            </a:r>
            <a:r>
              <a:rPr lang="en-US" sz="2100" dirty="0" err="1"/>
              <a:t>testare</a:t>
            </a:r>
            <a:r>
              <a:rPr lang="en-US" sz="2100" dirty="0"/>
              <a:t> automata)</a:t>
            </a:r>
          </a:p>
          <a:p>
            <a:pPr lvl="1"/>
            <a:endParaRPr lang="en-US" sz="2100" dirty="0"/>
          </a:p>
          <a:p>
            <a:pPr marL="457200" lvl="1" indent="0">
              <a:buNone/>
            </a:pP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Fundamente Teoretice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US" sz="2100" dirty="0" err="1"/>
              <a:t>Imutabilitate</a:t>
            </a:r>
            <a:r>
              <a:rPr lang="en-US" sz="2100" dirty="0"/>
              <a:t>:</a:t>
            </a:r>
          </a:p>
          <a:p>
            <a:pPr lvl="1"/>
            <a:r>
              <a:rPr lang="en-US" sz="2100" dirty="0" err="1"/>
              <a:t>Folosirea</a:t>
            </a:r>
            <a:r>
              <a:rPr lang="en-US" sz="2100" dirty="0"/>
              <a:t> @dataclass(frozen = True)</a:t>
            </a:r>
          </a:p>
          <a:p>
            <a:pPr lvl="2"/>
            <a:r>
              <a:rPr lang="en-US" sz="2100" dirty="0" err="1"/>
              <a:t>Previne</a:t>
            </a:r>
            <a:r>
              <a:rPr lang="en-US" sz="2100" dirty="0"/>
              <a:t> </a:t>
            </a:r>
            <a:r>
              <a:rPr lang="en-US" sz="2100" dirty="0" err="1"/>
              <a:t>erori</a:t>
            </a:r>
            <a:r>
              <a:rPr lang="en-US" sz="2100" dirty="0"/>
              <a:t> </a:t>
            </a:r>
            <a:r>
              <a:rPr lang="en-US" sz="2100" dirty="0" err="1"/>
              <a:t>accidentale</a:t>
            </a:r>
            <a:r>
              <a:rPr lang="en-US" sz="2100" dirty="0"/>
              <a:t> de </a:t>
            </a:r>
            <a:r>
              <a:rPr lang="en-US" sz="2100" dirty="0" err="1"/>
              <a:t>suprascriere</a:t>
            </a:r>
            <a:r>
              <a:rPr lang="en-US" sz="2100" dirty="0"/>
              <a:t> a </a:t>
            </a:r>
            <a:r>
              <a:rPr lang="en-US" sz="2100" dirty="0" err="1"/>
              <a:t>datelor</a:t>
            </a:r>
            <a:endParaRPr lang="en-US" sz="2100" dirty="0"/>
          </a:p>
          <a:p>
            <a:r>
              <a:rPr lang="en-US" sz="2100" dirty="0" err="1"/>
              <a:t>Functii</a:t>
            </a:r>
            <a:r>
              <a:rPr lang="en-US" sz="2100" dirty="0"/>
              <a:t> pure:</a:t>
            </a:r>
          </a:p>
          <a:p>
            <a:pPr lvl="1"/>
            <a:r>
              <a:rPr lang="en-US" sz="2100" dirty="0" err="1"/>
              <a:t>Functiile</a:t>
            </a:r>
            <a:r>
              <a:rPr lang="en-US" sz="2100" dirty="0"/>
              <a:t> </a:t>
            </a:r>
            <a:r>
              <a:rPr lang="en-US" sz="2100" dirty="0" err="1"/>
              <a:t>adunare</a:t>
            </a:r>
            <a:r>
              <a:rPr lang="en-US" sz="2100" dirty="0"/>
              <a:t>, </a:t>
            </a:r>
            <a:r>
              <a:rPr lang="en-US" sz="2100" dirty="0" err="1"/>
              <a:t>scadere</a:t>
            </a:r>
            <a:r>
              <a:rPr lang="en-US" sz="2100" dirty="0"/>
              <a:t>, </a:t>
            </a:r>
            <a:r>
              <a:rPr lang="en-US" sz="2100" dirty="0" err="1"/>
              <a:t>inmultire</a:t>
            </a:r>
            <a:r>
              <a:rPr lang="en-US" sz="2100" dirty="0"/>
              <a:t> </a:t>
            </a:r>
            <a:r>
              <a:rPr lang="en-US" sz="2100" dirty="0" err="1"/>
              <a:t>impartire</a:t>
            </a:r>
            <a:endParaRPr lang="en-US" sz="2100" dirty="0"/>
          </a:p>
          <a:p>
            <a:pPr lvl="2"/>
            <a:r>
              <a:rPr lang="en-US" sz="2100" dirty="0" err="1"/>
              <a:t>Returneaza</a:t>
            </a:r>
            <a:r>
              <a:rPr lang="en-US" sz="2100" dirty="0"/>
              <a:t> </a:t>
            </a:r>
            <a:r>
              <a:rPr lang="en-US" sz="2100" dirty="0" err="1"/>
              <a:t>mereu</a:t>
            </a:r>
            <a:r>
              <a:rPr lang="en-US" sz="2100" dirty="0"/>
              <a:t> </a:t>
            </a:r>
            <a:r>
              <a:rPr lang="en-US" sz="2100" dirty="0" err="1"/>
              <a:t>acelasi</a:t>
            </a:r>
            <a:r>
              <a:rPr lang="en-US" sz="2100" dirty="0"/>
              <a:t> </a:t>
            </a:r>
            <a:r>
              <a:rPr lang="en-US" sz="2100" dirty="0" err="1"/>
              <a:t>rezultat</a:t>
            </a:r>
            <a:r>
              <a:rPr lang="en-US" sz="2100" dirty="0"/>
              <a:t>, </a:t>
            </a:r>
            <a:r>
              <a:rPr lang="en-US" sz="2100" dirty="0" err="1"/>
              <a:t>fara</a:t>
            </a:r>
            <a:r>
              <a:rPr lang="en-US" sz="2100" dirty="0"/>
              <a:t> a </a:t>
            </a:r>
            <a:r>
              <a:rPr lang="en-US" sz="2100" dirty="0" err="1"/>
              <a:t>modifica</a:t>
            </a:r>
            <a:r>
              <a:rPr lang="en-US" sz="2100" dirty="0"/>
              <a:t> </a:t>
            </a:r>
            <a:r>
              <a:rPr lang="en-US" sz="2100" dirty="0" err="1"/>
              <a:t>variabile</a:t>
            </a:r>
            <a:r>
              <a:rPr lang="en-US" sz="2100" dirty="0"/>
              <a:t> </a:t>
            </a:r>
            <a:r>
              <a:rPr lang="en-US" sz="2100" dirty="0" err="1"/>
              <a:t>globale</a:t>
            </a:r>
            <a:endParaRPr lang="en-US" sz="2100" dirty="0"/>
          </a:p>
          <a:p>
            <a:pPr lvl="2">
              <a:buFont typeface="Arial" panose="020B0604020202020204" pitchFamily="34" charset="0"/>
              <a:buChar char="•"/>
            </a:pP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Arhitectura aplicatiei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US" sz="2100" dirty="0" err="1"/>
              <a:t>Structura</a:t>
            </a:r>
            <a:r>
              <a:rPr lang="en-US" sz="2100" dirty="0"/>
              <a:t> de tip Arbore:</a:t>
            </a:r>
          </a:p>
          <a:p>
            <a:pPr lvl="1"/>
            <a:r>
              <a:rPr lang="en-US" sz="2100" dirty="0"/>
              <a:t>Este </a:t>
            </a:r>
            <a:r>
              <a:rPr lang="en-US" sz="2100" dirty="0" err="1"/>
              <a:t>modelat</a:t>
            </a:r>
            <a:r>
              <a:rPr lang="en-US" sz="2100" dirty="0"/>
              <a:t> ca un arbore </a:t>
            </a:r>
            <a:r>
              <a:rPr lang="en-US" sz="2100" dirty="0" err="1"/>
              <a:t>binar</a:t>
            </a:r>
            <a:endParaRPr lang="en-US" sz="2100" dirty="0"/>
          </a:p>
          <a:p>
            <a:pPr lvl="1"/>
            <a:r>
              <a:rPr lang="en-US" sz="2100" dirty="0"/>
              <a:t>Frunze = </a:t>
            </a:r>
            <a:r>
              <a:rPr lang="en-US" sz="2100" dirty="0" err="1"/>
              <a:t>obiecte</a:t>
            </a:r>
            <a:r>
              <a:rPr lang="en-US" sz="2100" dirty="0"/>
              <a:t> de tip “Value”</a:t>
            </a:r>
          </a:p>
          <a:p>
            <a:r>
              <a:rPr lang="en-US" sz="2100" dirty="0" err="1"/>
              <a:t>Diagrama</a:t>
            </a:r>
            <a:r>
              <a:rPr lang="en-US" sz="2100" dirty="0"/>
              <a:t> </a:t>
            </a:r>
            <a:r>
              <a:rPr lang="en-US" sz="2100" dirty="0" err="1"/>
              <a:t>claselor</a:t>
            </a:r>
            <a:r>
              <a:rPr lang="en-US" sz="2100" dirty="0"/>
              <a:t>:</a:t>
            </a:r>
          </a:p>
          <a:p>
            <a:pPr lvl="1"/>
            <a:r>
              <a:rPr lang="en-US" sz="2100" dirty="0"/>
              <a:t>“Op(operator, </a:t>
            </a:r>
            <a:r>
              <a:rPr lang="en-US" sz="2100" dirty="0" err="1"/>
              <a:t>stanga</a:t>
            </a:r>
            <a:r>
              <a:rPr lang="en-US" sz="2100" dirty="0"/>
              <a:t>, </a:t>
            </a:r>
            <a:r>
              <a:rPr lang="en-US" sz="2100" dirty="0" err="1"/>
              <a:t>dreapta</a:t>
            </a:r>
            <a:r>
              <a:rPr lang="en-US" sz="2100" dirty="0"/>
              <a:t>)”</a:t>
            </a:r>
          </a:p>
          <a:p>
            <a:pPr lvl="2"/>
            <a:r>
              <a:rPr lang="en-US" sz="2100" dirty="0" err="1"/>
              <a:t>Aplica</a:t>
            </a:r>
            <a:r>
              <a:rPr lang="en-US" sz="2100" dirty="0"/>
              <a:t> recursive </a:t>
            </a:r>
            <a:r>
              <a:rPr lang="en-US" sz="2100" dirty="0" err="1"/>
              <a:t>operatorul</a:t>
            </a:r>
            <a:r>
              <a:rPr lang="en-US" sz="2100" dirty="0"/>
              <a:t> </a:t>
            </a:r>
            <a:r>
              <a:rPr lang="en-US" sz="2100" dirty="0" err="1"/>
              <a:t>peste</a:t>
            </a:r>
            <a:r>
              <a:rPr lang="en-US" sz="2100" dirty="0"/>
              <a:t> </a:t>
            </a:r>
            <a:r>
              <a:rPr lang="en-US" sz="2100" dirty="0" err="1"/>
              <a:t>rezultatele</a:t>
            </a:r>
            <a:r>
              <a:rPr lang="en-US" sz="2100" dirty="0"/>
              <a:t> </a:t>
            </a:r>
            <a:r>
              <a:rPr lang="en-US" sz="2100" dirty="0" err="1"/>
              <a:t>copiilor</a:t>
            </a:r>
            <a:endParaRPr lang="en-US" sz="2100" dirty="0"/>
          </a:p>
          <a:p>
            <a:pPr lvl="1"/>
            <a:r>
              <a:rPr lang="en-US" sz="2100" dirty="0"/>
              <a:t>“Value(</a:t>
            </a:r>
            <a:r>
              <a:rPr lang="en-US" sz="2100" dirty="0" err="1"/>
              <a:t>val</a:t>
            </a:r>
            <a:r>
              <a:rPr lang="en-US" sz="2100" dirty="0"/>
              <a:t>)”</a:t>
            </a:r>
          </a:p>
          <a:p>
            <a:pPr lvl="2"/>
            <a:r>
              <a:rPr lang="en-US" sz="2100" dirty="0" err="1"/>
              <a:t>Returneaza</a:t>
            </a:r>
            <a:r>
              <a:rPr lang="en-US" sz="2100" dirty="0"/>
              <a:t> </a:t>
            </a:r>
            <a:r>
              <a:rPr lang="en-US" sz="2100" dirty="0" err="1"/>
              <a:t>valoarea</a:t>
            </a:r>
            <a:r>
              <a:rPr lang="en-US" sz="2100" dirty="0"/>
              <a:t> </a:t>
            </a:r>
            <a:r>
              <a:rPr lang="en-US" sz="2100" dirty="0" err="1"/>
              <a:t>proprie</a:t>
            </a:r>
            <a:endParaRPr lang="en-US" sz="2100" dirty="0"/>
          </a:p>
          <a:p>
            <a:pPr marL="914400" lvl="2" indent="0">
              <a:buNone/>
            </a:pPr>
            <a:endParaRPr lang="en-US" sz="2100" dirty="0"/>
          </a:p>
          <a:p>
            <a:pPr marL="457200" lvl="1" indent="0">
              <a:buNone/>
            </a:pPr>
            <a:endParaRPr lang="en-US" sz="2100" dirty="0"/>
          </a:p>
          <a:p>
            <a:pPr marL="457200" lvl="1" indent="0">
              <a:buNone/>
            </a:pP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Implementare</a:t>
            </a:r>
          </a:p>
        </p:txBody>
      </p:sp>
      <p:pic>
        <p:nvPicPr>
          <p:cNvPr id="5" name="Substituent conținut 4" descr="O imagine care conține text, captură de ecran, software&#10;&#10;Conținutul generat de inteligența artificială poate fi incorect.">
            <a:extLst>
              <a:ext uri="{FF2B5EF4-FFF2-40B4-BE49-F238E27FC236}">
                <a16:creationId xmlns:a16="http://schemas.microsoft.com/office/drawing/2014/main" id="{C8A665FD-B929-E3FB-9A1F-181154918A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8085" y="1616116"/>
            <a:ext cx="5637316" cy="40165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3A6590-0F87-0E6C-FE4B-C8230395E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9">
            <a:extLst>
              <a:ext uri="{FF2B5EF4-FFF2-40B4-BE49-F238E27FC236}">
                <a16:creationId xmlns:a16="http://schemas.microsoft.com/office/drawing/2014/main" id="{CBFBB0E4-8BEA-E5A8-A53B-E0751EC9C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11">
            <a:extLst>
              <a:ext uri="{FF2B5EF4-FFF2-40B4-BE49-F238E27FC236}">
                <a16:creationId xmlns:a16="http://schemas.microsoft.com/office/drawing/2014/main" id="{C826A073-CA99-81CA-1DC2-0B810715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468" y="3296652"/>
            <a:ext cx="9151584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7098E2-97D8-9525-959A-3F818DA22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905833"/>
            <a:ext cx="3161297" cy="2398713"/>
          </a:xfrm>
        </p:spPr>
        <p:txBody>
          <a:bodyPr>
            <a:normAutofit/>
          </a:bodyPr>
          <a:lstStyle/>
          <a:p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Manuala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283BA-70B9-A5E2-45F3-4DB19E670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084" y="3884452"/>
            <a:ext cx="4292266" cy="239871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Am </a:t>
            </a:r>
            <a:r>
              <a:rPr lang="en-US" sz="1800" dirty="0" err="1"/>
              <a:t>construit</a:t>
            </a:r>
            <a:r>
              <a:rPr lang="en-US" sz="1800" dirty="0"/>
              <a:t> o </a:t>
            </a:r>
            <a:r>
              <a:rPr lang="en-US" sz="1800" dirty="0" err="1"/>
              <a:t>expresie</a:t>
            </a:r>
            <a:r>
              <a:rPr lang="en-US" sz="1800" dirty="0"/>
              <a:t> </a:t>
            </a:r>
            <a:r>
              <a:rPr lang="en-US" sz="1800" dirty="0" err="1"/>
              <a:t>matematică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cod, am </a:t>
            </a:r>
            <a:r>
              <a:rPr lang="en-US" sz="1800" dirty="0" err="1"/>
              <a:t>afisat</a:t>
            </a:r>
            <a:r>
              <a:rPr lang="en-US" sz="1800" dirty="0"/>
              <a:t>-o </a:t>
            </a:r>
            <a:r>
              <a:rPr lang="en-US" sz="1800" dirty="0" err="1"/>
              <a:t>și</a:t>
            </a:r>
            <a:r>
              <a:rPr lang="en-US" sz="1800" dirty="0"/>
              <a:t> am </a:t>
            </a:r>
            <a:r>
              <a:rPr lang="en-US" sz="1800" dirty="0" err="1"/>
              <a:t>văzut</a:t>
            </a:r>
            <a:r>
              <a:rPr lang="en-US" sz="1800" dirty="0"/>
              <a:t> </a:t>
            </a:r>
            <a:r>
              <a:rPr lang="en-US" sz="1800" dirty="0" err="1"/>
              <a:t>că</a:t>
            </a:r>
            <a:r>
              <a:rPr lang="en-US" sz="1800" dirty="0"/>
              <a:t> </a:t>
            </a:r>
            <a:r>
              <a:rPr lang="en-US" sz="1800" dirty="0" err="1"/>
              <a:t>rezultatul</a:t>
            </a:r>
            <a:r>
              <a:rPr lang="en-US" sz="1800" dirty="0"/>
              <a:t> </a:t>
            </a:r>
            <a:r>
              <a:rPr lang="en-US" sz="1800" dirty="0" err="1"/>
              <a:t>afișat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cel </a:t>
            </a:r>
            <a:r>
              <a:rPr lang="en-US" sz="1800" dirty="0" err="1"/>
              <a:t>corect</a:t>
            </a:r>
            <a:r>
              <a:rPr lang="en-US" sz="1800" dirty="0"/>
              <a:t>. Confirmand ca </a:t>
            </a:r>
            <a:r>
              <a:rPr lang="en-US" sz="1800" dirty="0" err="1"/>
              <a:t>codul</a:t>
            </a:r>
            <a:r>
              <a:rPr lang="en-US" sz="1800" dirty="0"/>
              <a:t> </a:t>
            </a:r>
            <a:r>
              <a:rPr lang="en-US" sz="1800" dirty="0" err="1"/>
              <a:t>functioneaza</a:t>
            </a:r>
            <a:r>
              <a:rPr lang="en-US" sz="1800" dirty="0"/>
              <a:t> </a:t>
            </a:r>
            <a:r>
              <a:rPr lang="en-US" sz="1800" dirty="0" err="1"/>
              <a:t>fara</a:t>
            </a:r>
            <a:r>
              <a:rPr lang="en-US" sz="1800" dirty="0"/>
              <a:t> </a:t>
            </a:r>
            <a:r>
              <a:rPr lang="en-US" sz="1800" dirty="0" err="1"/>
              <a:t>erori</a:t>
            </a:r>
            <a:endParaRPr lang="it-IT" sz="1700" dirty="0"/>
          </a:p>
        </p:txBody>
      </p:sp>
      <p:pic>
        <p:nvPicPr>
          <p:cNvPr id="6" name="Imagine 5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74CF856A-4483-6190-F900-5FC0878BD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44" y="779120"/>
            <a:ext cx="5751575" cy="1867161"/>
          </a:xfrm>
          <a:prstGeom prst="rect">
            <a:avLst/>
          </a:prstGeom>
        </p:spPr>
      </p:pic>
      <p:pic>
        <p:nvPicPr>
          <p:cNvPr id="8" name="Imagine 7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63244D12-05C8-C5FA-BD14-90F899CF3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343" y="2720949"/>
            <a:ext cx="5515745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29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9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11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468" y="3296652"/>
            <a:ext cx="9151584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905833"/>
            <a:ext cx="3161297" cy="2398713"/>
          </a:xfrm>
        </p:spPr>
        <p:txBody>
          <a:bodyPr>
            <a:normAutofit/>
          </a:bodyPr>
          <a:lstStyle/>
          <a:p>
            <a:r>
              <a:rPr lang="en-US"/>
              <a:t>Testare Automata</a:t>
            </a:r>
            <a:endParaRPr lang="en-US" dirty="0"/>
          </a:p>
        </p:txBody>
      </p:sp>
      <p:pic>
        <p:nvPicPr>
          <p:cNvPr id="5" name="Imagine 4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023F474E-D7DA-5497-DC5E-E5723C348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16" y="945611"/>
            <a:ext cx="7406444" cy="168496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8478" y="3884452"/>
            <a:ext cx="4463716" cy="2398713"/>
          </a:xfrm>
        </p:spPr>
        <p:txBody>
          <a:bodyPr anchor="ctr">
            <a:normAutofit/>
          </a:bodyPr>
          <a:lstStyle/>
          <a:p>
            <a:r>
              <a:rPr lang="it-IT" sz="1700" dirty="0"/>
              <a:t>Hypothesis verifica reguli generale pe sute de valori generate aleatoriu</a:t>
            </a:r>
          </a:p>
          <a:p>
            <a:endParaRPr lang="it-IT" sz="1700" dirty="0"/>
          </a:p>
          <a:p>
            <a:endParaRPr lang="it-IT" sz="1700" dirty="0"/>
          </a:p>
          <a:p>
            <a:r>
              <a:rPr lang="it-IT" sz="1700" dirty="0"/>
              <a:t>In caz ca nu functioneaza sa se introduca comanda &gt;</a:t>
            </a:r>
            <a:r>
              <a:rPr lang="en-US" sz="1700" dirty="0"/>
              <a:t>pip install hypothesis&lt; in terminal</a:t>
            </a:r>
            <a:endParaRPr lang="it-IT" sz="1700" dirty="0"/>
          </a:p>
          <a:p>
            <a:pPr marL="0" indent="0">
              <a:buNone/>
            </a:pPr>
            <a:endParaRPr lang="it-IT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Concluzii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pPr algn="ctr"/>
            <a:r>
              <a:rPr lang="en-US" sz="2400" dirty="0" err="1"/>
              <a:t>Proiectul</a:t>
            </a:r>
            <a:r>
              <a:rPr lang="en-US" sz="2400" dirty="0"/>
              <a:t> </a:t>
            </a:r>
            <a:r>
              <a:rPr lang="en-US" sz="2400" dirty="0" err="1"/>
              <a:t>aplica</a:t>
            </a:r>
            <a:r>
              <a:rPr lang="en-US" sz="2400" dirty="0"/>
              <a:t> </a:t>
            </a:r>
            <a:r>
              <a:rPr lang="en-US" sz="2400" dirty="0" err="1"/>
              <a:t>corect</a:t>
            </a:r>
            <a:r>
              <a:rPr lang="en-US" sz="2400" dirty="0"/>
              <a:t> </a:t>
            </a:r>
            <a:r>
              <a:rPr lang="en-US" sz="2400" dirty="0" err="1"/>
              <a:t>conceptele</a:t>
            </a:r>
            <a:r>
              <a:rPr lang="en-US" sz="2400" dirty="0"/>
              <a:t> de </a:t>
            </a:r>
            <a:r>
              <a:rPr lang="en-US" sz="2400" dirty="0" err="1"/>
              <a:t>Programare</a:t>
            </a:r>
            <a:r>
              <a:rPr lang="en-US" sz="2400" dirty="0"/>
              <a:t> </a:t>
            </a:r>
            <a:r>
              <a:rPr lang="en-US" sz="2400" dirty="0" err="1"/>
              <a:t>Functionala</a:t>
            </a:r>
            <a:r>
              <a:rPr lang="en-US" sz="2400" dirty="0"/>
              <a:t> </a:t>
            </a:r>
            <a:r>
              <a:rPr lang="en-US" sz="2400" dirty="0" err="1"/>
              <a:t>folosind</a:t>
            </a:r>
            <a:r>
              <a:rPr lang="en-US" sz="2400" dirty="0"/>
              <a:t> date </a:t>
            </a:r>
            <a:r>
              <a:rPr lang="en-US" sz="2400" dirty="0" err="1"/>
              <a:t>imutabile</a:t>
            </a:r>
            <a:r>
              <a:rPr lang="en-US" sz="2400" dirty="0"/>
              <a:t>, </a:t>
            </a:r>
            <a:r>
              <a:rPr lang="en-US" sz="2400" dirty="0" err="1"/>
              <a:t>functii</a:t>
            </a:r>
            <a:r>
              <a:rPr lang="en-US" sz="2400" dirty="0"/>
              <a:t> pure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evaluare</a:t>
            </a:r>
            <a:r>
              <a:rPr lang="en-US" sz="2400" dirty="0"/>
              <a:t> </a:t>
            </a:r>
            <a:r>
              <a:rPr lang="en-US" sz="2400" dirty="0" err="1"/>
              <a:t>recursiva</a:t>
            </a:r>
            <a:r>
              <a:rPr lang="en-US" sz="2400" dirty="0"/>
              <a:t>. </a:t>
            </a:r>
            <a:r>
              <a:rPr lang="en-US" sz="2400" dirty="0" err="1"/>
              <a:t>Testarea</a:t>
            </a:r>
            <a:r>
              <a:rPr lang="en-US" sz="2400" dirty="0"/>
              <a:t> automata </a:t>
            </a:r>
            <a:r>
              <a:rPr lang="en-US" sz="2400" dirty="0" err="1"/>
              <a:t>validează</a:t>
            </a:r>
            <a:r>
              <a:rPr lang="en-US" sz="2400" dirty="0"/>
              <a:t> </a:t>
            </a:r>
            <a:r>
              <a:rPr lang="en-US" sz="2400" dirty="0" err="1"/>
              <a:t>corectitudinea</a:t>
            </a:r>
            <a:r>
              <a:rPr lang="en-US" sz="2400" dirty="0"/>
              <a:t> </a:t>
            </a:r>
            <a:r>
              <a:rPr lang="en-US" sz="2400" dirty="0" err="1"/>
              <a:t>implementarii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demonstreaza</a:t>
            </a:r>
            <a:r>
              <a:rPr lang="en-US" sz="2400" dirty="0"/>
              <a:t> </a:t>
            </a:r>
            <a:r>
              <a:rPr lang="en-US" sz="2400" dirty="0" err="1"/>
              <a:t>beneficiile</a:t>
            </a:r>
            <a:r>
              <a:rPr lang="en-US" sz="2400" dirty="0"/>
              <a:t> </a:t>
            </a:r>
            <a:r>
              <a:rPr lang="en-US" sz="2400" dirty="0" err="1"/>
              <a:t>acestui</a:t>
            </a:r>
            <a:r>
              <a:rPr lang="en-US" sz="2400" dirty="0"/>
              <a:t> </a:t>
            </a:r>
            <a:r>
              <a:rPr lang="en-US" sz="2400" dirty="0" err="1"/>
              <a:t>stil</a:t>
            </a:r>
            <a:r>
              <a:rPr lang="en-US" sz="2400" dirty="0"/>
              <a:t> de </a:t>
            </a:r>
            <a:r>
              <a:rPr lang="en-US" sz="2400" dirty="0" err="1"/>
              <a:t>programare</a:t>
            </a:r>
            <a:r>
              <a:rPr lang="en-US" sz="2400" dirty="0"/>
              <a:t>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241</Words>
  <Application>Microsoft Office PowerPoint</Application>
  <PresentationFormat>Expunere pe ecran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Arbore de expresii + evaluator recursive pur</vt:lpstr>
      <vt:lpstr>Introducere</vt:lpstr>
      <vt:lpstr>Fundamente Teoretice</vt:lpstr>
      <vt:lpstr>Arhitectura aplicatiei</vt:lpstr>
      <vt:lpstr>Implementare</vt:lpstr>
      <vt:lpstr>Testare Manuala</vt:lpstr>
      <vt:lpstr>Testare Automata</vt:lpstr>
      <vt:lpstr>Concluzii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Fabian Deliman</dc:creator>
  <cp:keywords/>
  <dc:description>generated using python-pptx</dc:description>
  <cp:lastModifiedBy>Deliman George-Fabian</cp:lastModifiedBy>
  <cp:revision>6</cp:revision>
  <dcterms:created xsi:type="dcterms:W3CDTF">2013-01-27T09:14:16Z</dcterms:created>
  <dcterms:modified xsi:type="dcterms:W3CDTF">2026-01-16T07:27:02Z</dcterms:modified>
  <cp:category/>
</cp:coreProperties>
</file>